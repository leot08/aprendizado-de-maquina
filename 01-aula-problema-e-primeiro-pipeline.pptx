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customXml" Target="../customXml/item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212080"/>
            <a:ext cx="10881360" cy="822960"/>
          </a:xfrm>
          <a:prstGeom prst="roundRect">
            <a:avLst/>
          </a:prstGeom>
          <a:solidFill>
            <a:srgbClr val="102136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C6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Aptos"/>
              </a:defRPr>
            </a:pPr>
            <a:r>
              <a:t>Problema e primeiro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Aptos"/>
              </a:defRPr>
            </a:pPr>
            <a:r>
              <a:t>Do dado bruto à primeira decisão computacional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228600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Módulo Microcontroladores · 8º período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4h = 1h introdução · 1h preparação · 1h30 experimento · 30min apresentação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918A"/>
                </a:solidFill>
                <a:latin typeface="Aptos"/>
              </a:defRPr>
            </a:pPr>
            <a:r>
              <a:t>VS Code · Python · OpenCV · scikit-learn · PyTorch · Git · microcontroladores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Quem sou eu e como vamos trabalhar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PROFESSOR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73152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ptos"/>
              </a:defRPr>
            </a:pPr>
            <a:r>
              <a:t>Prof. Dr. Reinaldo Augusto de Oliveira Ramos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Computação · Inteligência Artificial · Jogos Digitais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Departamento de Computação · FCET · PUC-SP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42"/>
                </a:solidFill>
                <a:latin typeface="Aptos"/>
              </a:defRPr>
            </a:pPr>
            <a:r>
              <a:t>Disciplinas que ministro: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LCML, DSDIAG, CAIG, Programação da IA, Projeto de Jogos 3D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20240"/>
            <a:ext cx="557784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42"/>
                </a:solidFill>
                <a:latin typeface="Aptos"/>
              </a:defRPr>
            </a:pPr>
            <a:r>
              <a:t>COMO VAMOS TRABALHAR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73152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Aulas práticas em laboratório, não expositivas.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Aprendizagem baseada em projeto (PBL).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Cada grupo escolhe e desenvolve um protótipo ao longo das 9 aulas.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Uso intensivo do VS Code, Python e Git.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Ferramentas de IA como apoio, com registro e validação.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Foco em fazer funcionar, não em decorar teoria.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A DISCIPLINA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O que é o Laboratório Computacional de Aprendizado de Máquina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4924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NOSSO PAPEL NO MÓDULO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73152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Coletar e preparar dados de sensores e câmeras.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Treinar e avaliar modelos de aprendizado de máquina.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Implementar visão computacional para percepção.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Criar a inferência em tempo real.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Definir o protocolo de comunicação com o hardware.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Entregar o componente de software do sistema ciber-físico.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4924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7185"/>
                </a:solidFill>
                <a:latin typeface="Aptos"/>
              </a:defRPr>
            </a:pPr>
            <a:r>
              <a:t>O QUE NÃO É NOSSO PAPEL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514600"/>
            <a:ext cx="73152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Programar o firmware do microcontrolador (Lab. de Microcontroladores).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Modelar e ajustar o controlador (Controle Moderno).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Análise estocástica do sistema (Processos Estocásticos).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Coordenação geral do projeto (Tutoria).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Opcoes: carrinho, gestos, sensores, acessibilidade, residuos, falhas ou proposta livre.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O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Como funcionam estas 9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ESTRUTURA DO MÓDULO MICROCONTROLADORES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109728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9 semanas, cada aula com 4 horas.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36 horas-aula no total, incluindo 15 horas de atividade extensionista.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Projeto aberto: cada grupo escolhe uma solução do leque de opções.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O projeto começa aqui (LCML) e termina na UC de Inteligência Artificial.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Entrega parcial no fim do LCML; entrega final na UC de Inteligência Artificial.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Atividade extensionista: validar com a comunidade externa (cadastrada no Workalove).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Cada aula: 1h teoria + 1h preparação + 1h30 experimento + 30min apresentação.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ROTEIRO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O que vamos fazer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4924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Bem-vindos ao LCML, a unidade curricular laboratorial de aprendizado de máquina do módulo Microcontroladores.</a:t>
            </a:r>
          </a:p>
          <a:p>
            <a:pPr>
              <a:spcAft>
                <a:spcPts val="9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O módulo integra LCML, Laboratório de Microcontroladores, Controle Moderno, Processos Estocásticos e Tutoria.</a:t>
            </a:r>
          </a:p>
          <a:p>
            <a:pPr>
              <a:spcAft>
                <a:spcPts val="9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Nossa responsabilidade no LCML: dados, modelos, visão computacional e a ponte de software para o hardware.</a:t>
            </a:r>
          </a:p>
          <a:p>
            <a:pPr>
              <a:spcAft>
                <a:spcPts val="9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O experimento desta aula é genérico. Depois, cada grupo escolhe uma opção e adapta as técnicas ao próprio projeto.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34924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AGENDA DE HOJE (4 HORAS)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1. Introdução e conceitos (1h)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2. Montagem do ambiente (1h)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3. Atividade experimental (1h30)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4. Apresentação e entrega (30min)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Ao final desta aula você será capaz de executar a atividade proposta com autonomia.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O que é aprendizado de máquina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C6"/>
                </a:solidFill>
                <a:latin typeface="Aptos"/>
              </a:defRPr>
            </a:pPr>
            <a:r>
              <a:t>O QUE É APRENDIZADO DE MÁQUINA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137160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Campo da Inteligência Artificial em que sistemas aprendem padrões a partir de dados, em vez de serem programados regra a regra.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Três grandes famílias: supervisionado (com rótulos), não supervisionado (sem rótulos) e por reforço (recompensas).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No nosso projeto usaremos principalmente o supervisionado: mostramos exemplos e o modelo generaliza.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Exemplo do dia a dia: recomendações de vídeo, reconhecimento de rosto, tradução automática, assistentes virtuais.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Pipeline de aprendizado de máquina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C6"/>
                </a:solidFill>
                <a:latin typeface="Aptos"/>
              </a:defRPr>
            </a:pPr>
            <a:r>
              <a:t>PIPELINE DE APRENDIZADO DE MÁQUINA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137160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1. Coleta e preparação de dados — o combustível do modelo.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2. Extração de características (features) — transformar dados em atributos numéricos.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3. Treinamento — o modelo ajusta seus parâmetros a partir dos exemplos.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4. Avaliação — medir o desempenho em dados que o modelo nunca viu.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5. Implantação (inferência) — usar o modelo em tempo real no sistema.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Hoje vamos percorrer o pipeline inteiro de forma simplificada.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Sistemas ciber-físicos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C6"/>
                </a:solidFill>
                <a:latin typeface="Aptos"/>
              </a:defRPr>
            </a:pPr>
            <a:r>
              <a:t>SISTEMAS CIBER-FÍSICOS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137160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Sistemas que acoplam computação, comunicação e elementos físicos (sensores e atuadores).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Loop fundamental: percepção -&gt; decisão -&gt; atuação -&gt; medição.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O aprendizado de máquina entra na etapa de percepção e decisão.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Exemplos: carro autônomo, drones, robôs industriais, nosso protótipo escolhido.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Imagens digitais no OpenCV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C6"/>
                </a:solidFill>
                <a:latin typeface="Aptos"/>
              </a:defRPr>
            </a:pPr>
            <a:r>
              <a:t>IMAGENS DIGITAIS NO OPENCV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137160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Uma imagem é uma matriz de pixels; em cor, são três canais (BGR).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O OpenCV lê a imagem como um array NumPy: `img[y, x, canal]`.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Conversão de cores: BGR -&gt; RGB, BGR -&gt; HSV, BGR -&gt; cinza.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Detecção por cor usa limiarização no espaço HSV.</a:t>
            </a:r>
          </a:p>
          <a:p>
            <a:pPr>
              <a:spcAft>
                <a:spcPts val="12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• Contornos (`cv2.findContours`) permitem identificar formas e posição.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Antes de vocês começarem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C6"/>
                </a:solidFill>
                <a:latin typeface="Aptos"/>
              </a:defRPr>
            </a:pPr>
            <a:r>
              <a:t>O PROFESSOR VAI MOSTRAR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109728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No VS Code, abrir um notebook com `cv2.imread`, `cv2.cvtColor` e `cv2.imshow`.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Demonstrar a captura de vídeo com `cv2.VideoCapture(0)` em tempo real.</a:t>
            </a:r>
          </a:p>
          <a:p>
            <a:pPr>
              <a:spcAft>
                <a:spcPts val="14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Mostrar a diferença entre detecção por cor e detecção por contorno.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PREPARAÇÃO (1 HORA)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Montagem do ambiente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42"/>
                </a:solidFill>
                <a:latin typeface="Aptos"/>
              </a:defRPr>
            </a:pPr>
            <a:r>
              <a:t>PASSOS COMUNS A TODA 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Abrir o VS Code na pasta do projeto do grupo.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Ativar o ambiente virtual: `.\.venv\Scripts\Activate.ps1`.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Atualizar dependências com `pip install -r requirements.txt`.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Abrir o Git Graph para acompanhar o histórico do repositório.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Rodar o teste rápido antes de iniciar o experimento.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PASSOS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1. Criar a pasta `lcml-projeto` e abri-la no VS Code.</a:t>
            </a:r>
          </a:p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2. Criar ambiente: `py -m venv .venv`.</a:t>
            </a:r>
          </a:p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3. Ativar: `.\.venv\Scripts\Activate.ps1`.</a:t>
            </a:r>
          </a:p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4. Instalar: `pip install opencv-python numpy jupyter matplotlib`.</a:t>
            </a:r>
          </a:p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5. Congelar: `pip freeze &gt; requirements.txt`.</a:t>
            </a:r>
          </a:p>
          <a:p>
            <a:pPr>
              <a:spcAft>
                <a:spcPts val="5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6. Criar `notebooks/aula01_camera.ipynb` e testar `import cv2, numpy as np`.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EXPERIMENTO (1H30)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Atividade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914400"/>
          </a:xfrm>
          <a:prstGeom prst="roundRect">
            <a:avLst/>
          </a:prstGeom>
          <a:solidFill>
            <a:srgbClr val="102136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42"/>
                </a:solidFill>
                <a:latin typeface="Aptos"/>
              </a:defRPr>
            </a:pPr>
            <a:r>
              <a:t>ATIVIDADE DO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Capturar vídeo da câmera, detectar uma cor ou marcador visual e produzir a primeira decisão do protótipo escolhido.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0881360" cy="310896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PASSO A 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1. Abrir a câmera com `cap = cv2.VideoCapture(0)`.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2. Ler quadros em loop com `ret, frame = cap.read()`.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3. Converter para HSV: `hsv = cv2.cvtColor(frame, cv2.COLOR_BGR2HSV)`.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4. Definir intervalo da cor-alvo com `cv2.inRange(hsv, low, high)`.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5. Encontrar contornos com `cv2.findContours`.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6. Calcular o centro do maior contorno.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7. Decidir: centro à esquerda -&gt; `ESQUERDA`, à direita -&gt; `DIREITA`, ausente -&gt; `PARAR`.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8. Desenhar o resultado no quadro e mostrar com `cv2.imshow`.</a:t>
            </a:r>
          </a:p>
          <a:p>
            <a:pPr>
              <a:spcAft>
                <a:spcPts val="4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9. Salvar uma captura de tela e registrar observações no `README.md`.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APRESENTAÇÃO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Validação e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0584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LCML · Engenharia de Sistemas Ciber-Físicos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Aula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6400800" cy="4206240"/>
          </a:xfrm>
          <a:prstGeom prst="roundRect">
            <a:avLst/>
          </a:prstGeom>
          <a:solidFill>
            <a:srgbClr val="162F43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C6"/>
                </a:solidFill>
                <a:latin typeface="Aptos"/>
              </a:defRPr>
            </a:pPr>
            <a:r>
              <a:t>CHECKLIST DE 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1097280" cy="54864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☐ A câmera abre sem erro no VS Code.</a:t>
            </a:r>
          </a:p>
          <a:p>
            <a:pPr>
              <a:spcAft>
                <a:spcPts val="9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☐ O quadro é exibido e atualizado em tempo real.</a:t>
            </a:r>
          </a:p>
          <a:p>
            <a:pPr>
              <a:spcAft>
                <a:spcPts val="9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☐ A detecção funciona em pelo menos duas condições de iluminação.</a:t>
            </a:r>
          </a:p>
          <a:p>
            <a:pPr>
              <a:spcAft>
                <a:spcPts val="9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☐ A regra de decisão está implementada e comentada.</a:t>
            </a:r>
          </a:p>
          <a:p>
            <a:pPr>
              <a:spcAft>
                <a:spcPts val="9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☐ O repositório tem `README.md` e `requirements.txt`.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920240"/>
            <a:ext cx="4297680" cy="4206240"/>
          </a:xfrm>
          <a:prstGeom prst="roundRect">
            <a:avLst/>
          </a:prstGeom>
          <a:solidFill>
            <a:srgbClr val="102136"/>
          </a:solidFill>
          <a:ln>
            <a:solidFill>
              <a:srgbClr val="2A4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C542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14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Repositório inicial, notebook de diagnóstico, captura de tela/vídeo e registro da demanda escolhida.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7185"/>
                </a:solidFill>
                <a:latin typeface="Aptos"/>
              </a:defRPr>
            </a:pPr>
            <a:r>
              <a:t>EXTENSÃO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8006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Extensão: diagnóstico da demanda e definição do público (3 h previstas).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52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Aptos"/>
              </a:defRPr>
            </a:pPr>
            <a:r>
              <a:t>Apresente: o que funcionou, o que falhou e o próximo passo.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0" ma:contentTypeDescription="Crie um novo documento." ma:contentTypeScope="" ma:versionID="0474a4835a66e88423a96c01b4c54cf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343674-74FD-4C0F-B582-FD2A4B407734}"/>
</file>

<file path=customXml/itemProps2.xml><?xml version="1.0" encoding="utf-8"?>
<ds:datastoreItem xmlns:ds="http://schemas.openxmlformats.org/officeDocument/2006/customXml" ds:itemID="{50BFCBD1-9AB8-4FF6-BDE7-45C5264F2EB8}"/>
</file>

<file path=customXml/itemProps3.xml><?xml version="1.0" encoding="utf-8"?>
<ds:datastoreItem xmlns:ds="http://schemas.openxmlformats.org/officeDocument/2006/customXml" ds:itemID="{822052A4-23F0-4D3E-831C-548608290F3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